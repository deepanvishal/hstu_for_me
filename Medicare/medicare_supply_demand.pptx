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274320"/>
            <a:ext cx="31089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Demand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" y="15087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Adequacy &amp; Capacity Modeling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 Medicare Advantage | Plan Year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82880" y="228600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82880" y="248716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whether Aetna MA provider network has sufficient capacity, specialty coverage, and geographic distribution across Florida — and identify gaps.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82880" y="31089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82880" y="331012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FL counties  |  43 CMS specialties  |  MA-HMO + MA-PPO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5,762 compliance checks per plan type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82880" y="379476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82880" y="3995928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CFR 422.116 — Network Adequacy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2026 HSD Reference File (Dec 17 2025)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0" y="2286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57600" y="594360"/>
            <a:ext cx="5212080" cy="320040"/>
          </a:xfrm>
          <a:prstGeom prst="rect">
            <a:avLst/>
          </a:prstGeom>
          <a:solidFill>
            <a:srgbClr val="F2F2F2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6217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2026 HSD Reference File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0" y="62179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required provider counts per county × specialty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0" y="978408"/>
            <a:ext cx="52120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03320" y="10058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Aetna Provider File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43600" y="1005840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Contracted network via mbr_with_zip + RPDB_RPNPRAC network explosion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0" y="1362456"/>
            <a:ext cx="5212080" cy="320040"/>
          </a:xfrm>
          <a:prstGeom prst="rect">
            <a:avLst/>
          </a:prstGeom>
          <a:solidFill>
            <a:srgbClr val="F2F2F2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13898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ACS 2018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0" y="138988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Zip-level population for demand estimation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0" y="1746504"/>
            <a:ext cx="52120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03320" y="17739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MA Penetration File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0" y="1773936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Medicare beneficiaries per county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0" y="2130552"/>
            <a:ext cx="5212080" cy="320040"/>
          </a:xfrm>
          <a:prstGeom prst="rect">
            <a:avLst/>
          </a:prstGeom>
          <a:solidFill>
            <a:srgbClr val="F2F2F2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03320" y="21579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GLOBAL_LOOKUP / RPDB_RPNPRAC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943600" y="2157984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327 Aetna specialty codes mapped to 43 CMS specialties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0" y="2514600"/>
            <a:ext cx="5212080" cy="3200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03320" y="25420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hosp_list_cmi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0" y="254203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Contracted hospital bed counts for Acute Inpatient compliance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0" y="3017520"/>
            <a:ext cx="5212080" cy="2011680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749040" y="30632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749040" y="333756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Beneficiaries: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715000" y="333756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age 65+ or disabled eligible for Medicare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749040" y="36118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Beneficiaries Required: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715000" y="361188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benchmark = 95th pct ratio × total benes (~10.59% for Metro)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749040" y="388620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Ratio: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715000" y="38862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needed per 1,000 benchmark members. Varies by specialty.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749040" y="41605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has_access: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715000" y="416052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has ≥1 contracted provider within CMS max distance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49040" y="443484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Population With Access: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715000" y="443484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zip pop where has_access=TRUE / total county pop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749040" y="470916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Threshold: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715000" y="470916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Large Metro/Metro | 85% Micro/Rural/CEAC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657600" y="49194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mbr_with_zip → RPDB network explosion → 327 specialty codes → distance matrix → county rollup → compliance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CMS Evaluates Compliance — 42 CFR 422.116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45720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tests. Both must pass. Evaluated per county × specialty × plan type.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4206240" cy="4160520"/>
          </a:xfrm>
          <a:prstGeom prst="rect">
            <a:avLst/>
          </a:prstGeom>
          <a:solidFill>
            <a:srgbClr val="D6E4F0"/>
          </a:solidFill>
          <a:ln w="19050">
            <a:solidFill>
              <a:srgbClr val="2E75B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8046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 — ACCESS STANDARD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104241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d(4): What % of members can reach a provider?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2984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9808" y="129844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≥90% of members in Large Metro/Metro counties must have ≥1 provider within max distance. ≥85% for Micro/Rural/CEAC.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171907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Cardiology, Leon County (Metro):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956816"/>
            <a:ext cx="4023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E0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9933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Distance (Metro)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51760" y="199339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miles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295144"/>
            <a:ext cx="4023360" cy="301752"/>
          </a:xfrm>
          <a:prstGeom prst="rect">
            <a:avLst/>
          </a:prstGeom>
          <a:solidFill>
            <a:srgbClr val="EDF4FC"/>
          </a:solidFill>
          <a:ln w="6350">
            <a:solidFill>
              <a:srgbClr val="CCE0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3317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County Population (ACS 2018)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51760" y="2331720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312,093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2633472"/>
            <a:ext cx="4023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E0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6700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 in zips with cardiologist within 20 mi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51760" y="2670048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249,674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971800"/>
            <a:ext cx="4023360" cy="301752"/>
          </a:xfrm>
          <a:prstGeom prst="rect">
            <a:avLst/>
          </a:prstGeom>
          <a:solidFill>
            <a:srgbClr val="EDF4FC"/>
          </a:solidFill>
          <a:ln w="6350">
            <a:solidFill>
              <a:srgbClr val="CCE0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0083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Population With Access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651760" y="3008376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249,674 / 312,093 = 79.9%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3310128"/>
            <a:ext cx="402336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CCE0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34670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Threshold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651760" y="3346704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648456"/>
            <a:ext cx="4023360" cy="301752"/>
          </a:xfrm>
          <a:prstGeom prst="rect">
            <a:avLst/>
          </a:prstGeom>
          <a:solidFill>
            <a:srgbClr val="FFE0E0"/>
          </a:solidFill>
          <a:ln w="6350">
            <a:solidFill>
              <a:srgbClr val="CCE0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6850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651760" y="368503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— 79.9% &lt; 90%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777240"/>
            <a:ext cx="4206240" cy="4160520"/>
          </a:xfrm>
          <a:prstGeom prst="rect">
            <a:avLst/>
          </a:prstGeom>
          <a:solidFill>
            <a:srgbClr val="FFF4EC"/>
          </a:solidFill>
          <a:ln w="19050">
            <a:solidFill>
              <a:srgbClr val="C55A1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46320" y="8046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2 — MINIMUM COUNT STANDARD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46320" y="104241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e(3): Are there enough contracted providers?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46320" y="12984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21808" y="1298448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CEIL(min_ratio × beneficiaries_required / 1,000)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must be within max distance of ≥1 beneficiary to count.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46320" y="177393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Cardiology, Leon County (Metro):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46320" y="2029968"/>
            <a:ext cx="40233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F0C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205740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Medicare Benes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269480" y="205740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51,931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46320" y="2340864"/>
            <a:ext cx="4023360" cy="274320"/>
          </a:xfrm>
          <a:prstGeom prst="rect">
            <a:avLst/>
          </a:prstGeom>
          <a:solidFill>
            <a:srgbClr val="FCE4D6"/>
          </a:solidFill>
          <a:ln w="6350">
            <a:solidFill>
              <a:srgbClr val="F0C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236829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95th Pct Base Ratio (Metro)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269480" y="236829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0.1059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46320" y="2651760"/>
            <a:ext cx="40233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F0C0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92040" y="267919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Beneficiaries Required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269480" y="26791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0.1059 × 51,931 = 5,498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46320" y="2962656"/>
            <a:ext cx="4023360" cy="274320"/>
          </a:xfrm>
          <a:prstGeom prst="rect">
            <a:avLst/>
          </a:prstGeom>
          <a:solidFill>
            <a:srgbClr val="FCE4D6"/>
          </a:solidFill>
          <a:ln w="6350">
            <a:solidFill>
              <a:srgbClr val="F0C09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299008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Ratio — Cardiology (Metro)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269480" y="299008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 per 1,000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46320" y="3273552"/>
            <a:ext cx="402336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F0C09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330098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Count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269480" y="330098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CEIL(0.27 × 5,498 / 1,000) = 2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46320" y="3584448"/>
            <a:ext cx="4023360" cy="274320"/>
          </a:xfrm>
          <a:prstGeom prst="rect">
            <a:avLst/>
          </a:prstGeom>
          <a:solidFill>
            <a:srgbClr val="FCE4D6"/>
          </a:solidFill>
          <a:ln w="6350">
            <a:solidFill>
              <a:srgbClr val="F0C09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92040" y="3611880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Contracted Cardiologists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269480" y="361188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846320" y="3895344"/>
            <a:ext cx="4023360" cy="274320"/>
          </a:xfrm>
          <a:prstGeom prst="rect">
            <a:avLst/>
          </a:prstGeom>
          <a:solidFill>
            <a:srgbClr val="E2EFDA"/>
          </a:solidFill>
          <a:ln w="6350">
            <a:solidFill>
              <a:srgbClr val="F0C09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92040" y="3922776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269480" y="392277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— 3 ≥ 2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82880" y="5010912"/>
            <a:ext cx="8778240" cy="502920"/>
          </a:xfrm>
          <a:prstGeom prst="rect">
            <a:avLst/>
          </a:prstGeom>
          <a:solidFill>
            <a:srgbClr val="FFE0E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504748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OVERALL: NON-COMPLIANT — Test 1 fails (79.9% &lt; 90%). Both tests must pass per 422.116.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263640" y="504748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types (SNF, PT, OT, ASC etc.) → min = 1 per county (flat)   |   Acute Inpatient Hospitals → CEIL(12.2 × 5,498 / 1,000) = 68 BEDS required, not hospitals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Results — Florida Medicare Advantage 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2880" y="640080"/>
            <a:ext cx="2103120" cy="1097280"/>
          </a:xfrm>
          <a:prstGeom prst="rect">
            <a:avLst/>
          </a:prstGeom>
          <a:solidFill>
            <a:srgbClr val="D6E4F0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6858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" y="12618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Counties Evaluated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14813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FL counties, member perspective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423160" y="640080"/>
            <a:ext cx="2103120" cy="1097280"/>
          </a:xfrm>
          <a:prstGeom prst="rect">
            <a:avLst/>
          </a:prstGeom>
          <a:solidFill>
            <a:srgbClr val="EDF4FC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14600" y="6858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514600" y="12618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Specialties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14600" y="14813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provider + 14 facility types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63440" y="640080"/>
            <a:ext cx="2103120" cy="1097280"/>
          </a:xfrm>
          <a:prstGeom prst="rect">
            <a:avLst/>
          </a:prstGeom>
          <a:solidFill>
            <a:srgbClr val="FCE4D6"/>
          </a:solidFill>
          <a:ln w="12700">
            <a:solidFill>
              <a:srgbClr val="C55A1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6858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5,762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754880" y="12618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Compliance Checks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0" y="14813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plan type (HMO + PPO)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903720" y="640080"/>
            <a:ext cx="2103120" cy="1097280"/>
          </a:xfrm>
          <a:prstGeom prst="rect">
            <a:avLst/>
          </a:prstGeom>
          <a:solidFill>
            <a:srgbClr val="E2EFDA"/>
          </a:solidFill>
          <a:ln w="12700">
            <a:solidFill>
              <a:srgbClr val="37562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95160" y="6858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327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995160" y="12618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 Code Mappings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995160" y="14813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Aetna codes → CMS specialties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82880" y="1874520"/>
            <a:ext cx="4160520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194767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Non-Compliant Specialties (by % counties failing)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2286000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Populate from fact_gap_analysis_v2 ]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17720" y="1874520"/>
            <a:ext cx="4343400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194767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Non-Compliant Counties (by # specialties failing)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09160" y="228600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Populate from fact_gap_analysis_v2 ]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82880" y="3429000"/>
            <a:ext cx="2011680" cy="1508760"/>
          </a:xfrm>
          <a:prstGeom prst="rect">
            <a:avLst/>
          </a:prstGeom>
          <a:solidFill>
            <a:srgbClr val="F2F2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5021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County Type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" y="3840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Populate from fact_gap_analysis_v2 ]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331720" y="3429000"/>
            <a:ext cx="2011680" cy="1508760"/>
          </a:xfrm>
          <a:prstGeom prst="rect">
            <a:avLst/>
          </a:prstGeom>
          <a:solidFill>
            <a:srgbClr val="F2F2F2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23160" y="35021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HMO vs PPO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423160" y="38404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Populate from fact_gap_analysis_v2 ]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17720" y="3429000"/>
            <a:ext cx="4343400" cy="1508760"/>
          </a:xfrm>
          <a:prstGeom prst="rect">
            <a:avLst/>
          </a:prstGeom>
          <a:solidFill>
            <a:srgbClr val="F2F2F2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350215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Failures vs Count Failures by Specialty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09160" y="3840480"/>
            <a:ext cx="4160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Populate from fact_gap_analysis_v2 ]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2880" y="685800"/>
            <a:ext cx="4297680" cy="2011680"/>
          </a:xfrm>
          <a:prstGeom prst="rect">
            <a:avLst/>
          </a:prstGeom>
          <a:solidFill>
            <a:srgbClr val="D6E4F0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685800"/>
            <a:ext cx="329184" cy="20116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14300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85216" y="758952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Specialty Mapping — Data Driven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" y="1069848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327 codes mapped from Global Lookup table descriptions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85216" y="1362456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(Physician) = 135K providers — generic catch-all, currently excluded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85216" y="1655064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Run distribution analysis on top 100 specialty_cd values by provider count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85216" y="1947672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each high-volume code maps to the correct CMS specialty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85216" y="2240280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Capture more valid providers, reduce false gaps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2880" y="2880360"/>
            <a:ext cx="4297680" cy="2011680"/>
          </a:xfrm>
          <a:prstGeom prst="rect">
            <a:avLst/>
          </a:prstGeom>
          <a:solidFill>
            <a:srgbClr val="FFF4EC"/>
          </a:solidFill>
          <a:ln w="12700">
            <a:solidFill>
              <a:srgbClr val="C55A11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2880" y="2880360"/>
            <a:ext cx="329184" cy="2011680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" y="333756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85216" y="2953512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Time vs Straight-Line Distance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85216" y="3264408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ST_DISTANCE (straight-line, BigQuery). Always underestimates travel time.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5216" y="3557016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impactful for Micro/Rural/CEAC counties — roads are indirect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5216" y="3849624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Integrate Google Maps Distance Matrix API for rural zip pairs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85216" y="4142232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reclassify some borderline NON-COMPLIANT counties to COMPLIANT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9160" y="685800"/>
            <a:ext cx="4297680" cy="2011680"/>
          </a:xfrm>
          <a:prstGeom prst="rect">
            <a:avLst/>
          </a:prstGeom>
          <a:solidFill>
            <a:srgbClr val="E2EFDA"/>
          </a:solidFill>
          <a:ln w="12700">
            <a:solidFill>
              <a:srgbClr val="37562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685800"/>
            <a:ext cx="329184" cy="2011680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114300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111496" y="758952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Medicare-Specific Population for Test 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11496" y="1069848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ACS 2018 zip population — all ages, all insurance types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11496" y="1362456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uses: MA Medicare Sample Census — actual enrollee addresses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11496" y="1655064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Obtain zip-level Medicare beneficiary counts from CMS penetration data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11496" y="1947672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pct_covered will reflect Medicare population, not all residents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9160" y="2880360"/>
            <a:ext cx="4297680" cy="2011680"/>
          </a:xfrm>
          <a:prstGeom prst="rect">
            <a:avLst/>
          </a:prstGeom>
          <a:solidFill>
            <a:srgbClr val="FFE0E0"/>
          </a:solidFill>
          <a:ln w="12700">
            <a:solidFill>
              <a:srgbClr val="C000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2880360"/>
            <a:ext cx="329184" cy="201168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3337560"/>
            <a:ext cx="329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111496" y="2953512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Telehealth Credit + Exception Requests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11496" y="3264408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Telehealth: 14 specialties get 10% access credit if telehealth contracted (422.116(d)(5))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11496" y="3557016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NOT applied — no telehealth flag in Aetna provider file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111496" y="3849624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Requests: Counties where no providers exist in CMS supply file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11496" y="4142232"/>
            <a:ext cx="3803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eligible counties for exception filing with CMS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Medicare Supply Demand</dc:title>
  <dc:subject>PptxGenJS Presentation</dc:subject>
  <dc:creator>PptxGenJS</dc:creator>
  <cp:lastModifiedBy>PptxGenJS</cp:lastModifiedBy>
  <cp:revision>1</cp:revision>
  <dcterms:created xsi:type="dcterms:W3CDTF">2026-04-29T18:32:44Z</dcterms:created>
  <dcterms:modified xsi:type="dcterms:W3CDTF">2026-04-29T18:32:44Z</dcterms:modified>
</cp:coreProperties>
</file>