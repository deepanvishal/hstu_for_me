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</a:t>
            </a:r>
            <a:endParaRPr lang="en-US" sz="22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664208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Architecture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Unit of Analysis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2377440"/>
            <a:ext cx="18288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514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2788920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8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predicting: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8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Provider NPIs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8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diagnosis codes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8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visit volume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063240" y="201168"/>
            <a:ext cx="58521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63240" y="201168"/>
            <a:ext cx="54864" cy="1234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56032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VISIT CONSTRUCT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00400" y="493776"/>
            <a:ext cx="5623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Member  +  1 Calendar Day  =  1 Visit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Multi-specialty claims (e.g. PCP + Lab on same day) collapsed into one visit — preserves chronological integrity, eliminates administrative noise.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63240" y="1536192"/>
            <a:ext cx="58521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063240" y="1536192"/>
            <a:ext cx="54864" cy="12618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0" y="1591056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INPUT  —  PURE SEQUENCE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00400" y="1819656"/>
            <a:ext cx="5623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set: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Strictly the 20 most recent historical specialty visits per member.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Intentionally excluded: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Demographics, provider history, geography, visit counts.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predictive power of clinical trajectories alone — uncontaminated by administrative metadata.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063240" y="2898648"/>
            <a:ext cx="585216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063240" y="2898648"/>
            <a:ext cx="54864" cy="2029968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2953512"/>
            <a:ext cx="5669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PREDICTION TRIGGER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200400" y="3191256"/>
            <a:ext cx="5623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Initiated by a new diagnosis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first-time ICD-10 occurrence in member history.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</a:t>
            </a:r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specialty categories for the next visit.  Median sequence path length: 9 visits.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67328" y="3995928"/>
            <a:ext cx="1078992" cy="0"/>
          </a:xfrm>
          <a:prstGeom prst="line">
            <a:avLst/>
          </a:prstGeom>
          <a:noFill/>
          <a:ln w="19050">
            <a:solidFill>
              <a:srgbClr val="8FA8D0"/>
            </a:solidFill>
            <a:prstDash val="sysDash"/>
          </a:ln>
        </p:spPr>
      </p:sp>
      <p:sp>
        <p:nvSpPr>
          <p:cNvPr id="23" name="Shape 21"/>
          <p:cNvSpPr/>
          <p:nvPr/>
        </p:nvSpPr>
        <p:spPr>
          <a:xfrm>
            <a:off x="4773168" y="3931920"/>
            <a:ext cx="73152" cy="137160"/>
          </a:xfrm>
          <a:prstGeom prst="rect">
            <a:avLst/>
          </a:prstGeom>
          <a:solidFill>
            <a:srgbClr val="8FA8D0"/>
          </a:solidFill>
          <a:ln w="12700">
            <a:solidFill>
              <a:srgbClr val="8FA8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21808" y="3995928"/>
            <a:ext cx="987552" cy="0"/>
          </a:xfrm>
          <a:prstGeom prst="line">
            <a:avLst/>
          </a:prstGeom>
          <a:noFill/>
          <a:ln w="19050">
            <a:solidFill>
              <a:srgbClr val="8FA8D0"/>
            </a:solidFill>
            <a:prstDash val="sysDash"/>
          </a:ln>
        </p:spPr>
      </p:sp>
      <p:sp>
        <p:nvSpPr>
          <p:cNvPr id="25" name="Shape 23"/>
          <p:cNvSpPr/>
          <p:nvPr/>
        </p:nvSpPr>
        <p:spPr>
          <a:xfrm>
            <a:off x="6236208" y="3931920"/>
            <a:ext cx="73152" cy="137160"/>
          </a:xfrm>
          <a:prstGeom prst="rect">
            <a:avLst/>
          </a:prstGeom>
          <a:solidFill>
            <a:srgbClr val="8FA8D0"/>
          </a:solidFill>
          <a:ln w="12700">
            <a:solidFill>
              <a:srgbClr val="8FA8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84848" y="3995928"/>
            <a:ext cx="896112" cy="0"/>
          </a:xfrm>
          <a:prstGeom prst="line">
            <a:avLst/>
          </a:prstGeom>
          <a:noFill/>
          <a:ln w="19050">
            <a:solidFill>
              <a:srgbClr val="8FA8D0"/>
            </a:solidFill>
            <a:prstDash val="sysDash"/>
          </a:ln>
        </p:spPr>
      </p:sp>
      <p:sp>
        <p:nvSpPr>
          <p:cNvPr id="27" name="Shape 25"/>
          <p:cNvSpPr/>
          <p:nvPr/>
        </p:nvSpPr>
        <p:spPr>
          <a:xfrm>
            <a:off x="7607808" y="3931920"/>
            <a:ext cx="73152" cy="137160"/>
          </a:xfrm>
          <a:prstGeom prst="rect">
            <a:avLst/>
          </a:prstGeom>
          <a:solidFill>
            <a:srgbClr val="8FA8D0"/>
          </a:solidFill>
          <a:ln w="12700">
            <a:solidFill>
              <a:srgbClr val="8FA8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91840" y="3858768"/>
            <a:ext cx="475488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91840" y="38587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⬤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182112" y="4169664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Visit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182112" y="4361688"/>
            <a:ext cx="694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ICD-10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846320" y="3858768"/>
            <a:ext cx="475488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38587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?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736592" y="4169664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– 30 Days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36592" y="4361688"/>
            <a:ext cx="694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1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309360" y="3858768"/>
            <a:ext cx="475488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38587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?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99632" y="4169664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60 Days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199632" y="4361688"/>
            <a:ext cx="694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2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680960" y="3858768"/>
            <a:ext cx="475488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80960" y="3858768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?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7571232" y="4169664"/>
            <a:ext cx="6949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– 180 Days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571232" y="4361688"/>
            <a:ext cx="69494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3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200400" y="4572000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specialty? In which window? How many visits?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01168"/>
            <a:ext cx="347472" cy="347472"/>
          </a:xfrm>
          <a:prstGeom prst="ellipse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2011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28600" y="658368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" y="1591056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Validation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Lift Evidence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2286000"/>
            <a:ext cx="1828800" cy="36576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242316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METRIC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28600" y="2651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 @ 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8600" y="2962656"/>
            <a:ext cx="23774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8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Position-aware ranking metric.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8FA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Rewards placing the true specialty at Rank 1 more than Rank 5. Binary accuracy ignores ranking quality — NDCG does not.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63240" y="201168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063240" y="201168"/>
            <a:ext cx="2743200" cy="274320"/>
          </a:xfrm>
          <a:prstGeom prst="rect">
            <a:avLst/>
          </a:prstGeom>
          <a:solidFill>
            <a:srgbClr val="8FA8D0"/>
          </a:solidFill>
          <a:ln w="12700">
            <a:solidFill>
              <a:srgbClr val="8FA8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6324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BASELINE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108960" y="5303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Transition Model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8046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08960" y="100584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434840" y="80467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434840" y="1005840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0.XX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108960" y="1499616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Frequency-based transitions. No temporal awareness.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prediction across all time windows.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35040" y="201168"/>
            <a:ext cx="2880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35040" y="201168"/>
            <a:ext cx="288036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0116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080760" y="53035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SASRec  |  BERT4Rec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80760" y="80467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080760" y="1005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498080" y="80467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NDCG@5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98080" y="1005840"/>
            <a:ext cx="1325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0.YY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6080760" y="149961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Sequence-aware. Learns from visit order.</a:t>
            </a:r>
            <a:endParaRPr lang="en-US" sz="8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prediction per time window.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063240" y="2121408"/>
            <a:ext cx="5852160" cy="365760"/>
          </a:xfrm>
          <a:prstGeom prst="rect">
            <a:avLst/>
          </a:prstGeom>
          <a:solidFill>
            <a:srgbClr val="D1FAE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54680" y="212140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</a:t>
            </a:r>
            <a:pPr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non-linear temporal patterns in diagnosis sequences provides significant lift over frequency-based baselines.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063240" y="2578608"/>
            <a:ext cx="5852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63240" y="2578608"/>
            <a:ext cx="54864" cy="1188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2633472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&amp; DIAGNOSIS VALIDATION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200400" y="2871216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Stability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performance across ICD-10 chapters — chronic and acute conditions alike.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989320" y="2670048"/>
            <a:ext cx="0" cy="100584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2871216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9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NDCG across member cohorts — despite zero demographic inputs. Clinical sequence alone is sufficient signal.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063240" y="3858768"/>
            <a:ext cx="5852160" cy="107899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0" y="3913632"/>
            <a:ext cx="557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APPLICATION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200400" y="4142232"/>
            <a:ext cx="5577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expected next-visit distributions by diagnosis, specialty, and geography to inform network contracting decisions, adequacy assessments, and proactive member outreach — before utilization occurs.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2026-03-20T20:37:54Z</dcterms:created>
  <dcterms:modified xsi:type="dcterms:W3CDTF">2026-03-20T20:37:54Z</dcterms:modified>
</cp:coreProperties>
</file>